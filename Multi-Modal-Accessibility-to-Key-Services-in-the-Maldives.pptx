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embeddedFontLst>
    <p:embeddedFont>
      <p:font typeface="Spline Sans Mono Bold"/>
    </p:embeddedFont>
    <p:embeddedFont>
      <p:font typeface="Spline Sans Mono SemiBold"/>
    </p:embeddedFont>
    <p:embeddedFont>
      <p:font typeface="Saira Condensed SemiBold"/>
    </p:embeddedFont>
    <p:embeddedFont>
      <p:font typeface="Spline Sans Mono Medium"/>
    </p:embeddedFont>
    <p:embeddedFont>
      <p:font typeface="Spline Sans Mono"/>
    </p:embeddedFont>
    <p:embeddedFont>
      <p:font typeface="+mn-lt"/>
    </p:embeddedFont>
    <p:embeddedFont>
      <p:font typeface="+mn-ea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C069A4A-3516-45AD-8060-CC8E2AE3059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D11ED5-92BD-47E8-B739-2ED6CE0331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8CA75E-E043-4716-8535-C4B3696C50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623A40-BAF1-4393-8842-53B2B95807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663FA-3D07-43DC-90F0-6CFA5F6A86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F81508-D7DB-41E5-9E27-9087E52CE5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560C83-454D-4DB7-BF6B-5DD5BAA4FC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E244E4-8009-4DB3-B88F-C38EF52BB7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23C953-5F06-4276-B9B4-51B895B9D1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CFAF4">
              <a:alpha val="6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609480" y="5795280"/>
            <a:ext cx="3620520" cy="12240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609480" y="6031800"/>
            <a:ext cx="1158192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300" b="0" u="none" spc="26" strike="noStrike">
                <a:solidFill>
                  <a:srgbClr val="000000"/>
                </a:solidFill>
                <a:effectLst/>
                <a:uFillTx/>
                <a:latin typeface="Spline Sans Mono"/>
                <a:ea typeface="Spline Sans Mono"/>
              </a:rPr>
              <a:t>Datathon 2026 · [A Team]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606240" y="3379680"/>
            <a:ext cx="109530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7200" b="0" u="none" spc="-71" strike="noStrike">
                <a:solidFill>
                  <a:srgbClr val="A51F2F"/>
                </a:solidFill>
                <a:effectLst/>
                <a:uFillTx/>
                <a:latin typeface="Saira Condensed SemiBold"/>
                <a:ea typeface="Saira Condensed SemiBold"/>
              </a:rPr>
              <a:t>Multi-Modal Accessibility to Key Services in the Maldives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609480" y="658080"/>
            <a:ext cx="54298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7000"/>
              </a:lnSpc>
              <a:tabLst>
                <a:tab pos="0" algn="l"/>
              </a:tabLst>
            </a:pPr>
            <a:r>
              <a:rPr lang="en-US" sz="4400" b="0" u="none" spc="-23" strike="noStrike">
                <a:solidFill>
                  <a:srgbClr val="A51F2F"/>
                </a:solidFill>
                <a:effectLst/>
                <a:uFillTx/>
                <a:latin typeface="Saira Condensed SemiBold"/>
                <a:ea typeface="Saira Condensed SemiBold"/>
              </a:rPr>
              <a:t>Problem </a:t>
            </a:r>
            <a:r>
              <a:rPr lang="en-US" sz="4400" b="0" u="none" spc="-23" strike="noStrike">
                <a:solidFill>
                  <a:srgbClr val="A51F2F"/>
                </a:solidFill>
                <a:effectLst/>
                <a:uFillTx/>
                <a:latin typeface="Saira Condensed SemiBold"/>
                <a:ea typeface="Saira Condensed SemiBold"/>
              </a:rPr>
              <a:t>Statement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609480" y="1432800"/>
            <a:ext cx="1791360" cy="12240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09480" y="1663920"/>
            <a:ext cx="542988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Access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to key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service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s such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as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univers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ities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and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primary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healthc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are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facilit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ies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remains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uneven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across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Maldive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s due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to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geograp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hical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fragmen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tation.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Many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islands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lack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conveni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ent and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afforda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ble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transpo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rt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links,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limitin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g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equitab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le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access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to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essenti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al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service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609480" y="3417840"/>
            <a:ext cx="5429880" cy="167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304920" indent="-304920" defTabSz="914400">
              <a:lnSpc>
                <a:spcPct val="115000"/>
              </a:lnSpc>
              <a:buClr>
                <a:srgbClr val="3F566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Access to key services uneven across the Maldives.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4920" indent="-304920" defTabSz="914400">
              <a:lnSpc>
                <a:spcPct val="115000"/>
              </a:lnSpc>
              <a:buClr>
                <a:srgbClr val="3F566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Fragmented geography; islands lack affordable, convenient transport.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4920" indent="-304920" defTabSz="914400">
              <a:lnSpc>
                <a:spcPct val="115000"/>
              </a:lnSpc>
              <a:buClr>
                <a:srgbClr val="3F566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Essential services out of reach for many island populations.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preencoded.png"/>
          <p:cNvPicPr/>
          <p:nvPr/>
        </p:nvPicPr>
        <p:blipFill>
          <a:blip r:embed="rId1"/>
          <a:stretch/>
        </p:blipFill>
        <p:spPr>
          <a:xfrm>
            <a:off x="7106760" y="0"/>
            <a:ext cx="5084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609480" y="556560"/>
            <a:ext cx="109720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7000"/>
              </a:lnSpc>
              <a:tabLst>
                <a:tab pos="0" algn="l"/>
              </a:tabLst>
            </a:pPr>
            <a:r>
              <a:rPr lang="en-US" sz="4400" b="0" u="none" spc="-23" strike="noStrike">
                <a:solidFill>
                  <a:srgbClr val="A51F2F"/>
                </a:solidFill>
                <a:effectLst/>
                <a:uFillTx/>
                <a:latin typeface="Saira Condensed SemiBold"/>
                <a:ea typeface="Saira Condensed SemiBold"/>
              </a:rPr>
              <a:t>Key Stats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609480" y="1331280"/>
            <a:ext cx="3620520" cy="12240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609480" y="1669680"/>
            <a:ext cx="336240" cy="336240"/>
          </a:xfrm>
          <a:prstGeom prst="ellipse">
            <a:avLst/>
          </a:prstGeom>
          <a:solidFill>
            <a:srgbClr val="A51F2F"/>
          </a:solidFill>
          <a:ln w="6350">
            <a:solidFill>
              <a:srgbClr val="DDBA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663480" y="1742760"/>
            <a:ext cx="838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line Sans Mono SemiBold"/>
                <a:ea typeface="Spline Sans Mono SemiBold"/>
              </a:rPr>
              <a:t>01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1136880" y="1675080"/>
            <a:ext cx="1044504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F566B"/>
                </a:solidFill>
                <a:effectLst/>
                <a:uFillTx/>
                <a:latin typeface="Spline Sans Mono Bold"/>
                <a:ea typeface="Spline Sans Mono Bold"/>
              </a:rPr>
              <a:t>Student access gap: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 48% of atoll grade 9–10 students live on islands without grades 11–12 (MoE/MBS School Statistics, 2023)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609480" y="2981160"/>
            <a:ext cx="336240" cy="336240"/>
          </a:xfrm>
          <a:prstGeom prst="ellipse">
            <a:avLst/>
          </a:prstGeom>
          <a:solidFill>
            <a:srgbClr val="A51F2F"/>
          </a:solidFill>
          <a:ln w="6350">
            <a:solidFill>
              <a:srgbClr val="DDBA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663480" y="3054240"/>
            <a:ext cx="838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line Sans Mono SemiBold"/>
                <a:ea typeface="Spline Sans Mono SemiBold"/>
              </a:rPr>
              <a:t>02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1136880" y="2986560"/>
            <a:ext cx="1044504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F566B"/>
                </a:solidFill>
                <a:effectLst/>
                <a:uFillTx/>
                <a:latin typeface="Spline Sans Mono Bold"/>
                <a:ea typeface="Spline Sans Mono Bold"/>
              </a:rPr>
              <a:t>Education-driven migration: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 43–53% of migration to Malé from key atolls is education-related (MBS Census &amp; Migration Data, 2014–2022)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609480" y="4292640"/>
            <a:ext cx="336240" cy="336240"/>
          </a:xfrm>
          <a:prstGeom prst="ellipse">
            <a:avLst/>
          </a:prstGeom>
          <a:solidFill>
            <a:srgbClr val="A51F2F"/>
          </a:solidFill>
          <a:ln w="6350">
            <a:solidFill>
              <a:srgbClr val="DDBA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663480" y="4365720"/>
            <a:ext cx="838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line Sans Mono SemiBold"/>
                <a:ea typeface="Spline Sans Mono SemiBold"/>
              </a:rPr>
              <a:t>03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1136880" y="4298040"/>
            <a:ext cx="1044504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F566B"/>
                </a:solidFill>
                <a:effectLst/>
                <a:uFillTx/>
                <a:latin typeface="Spline Sans Mono Bold"/>
                <a:ea typeface="Spline Sans Mono Bold"/>
              </a:rPr>
              <a:t>Land-only access: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 ~47% of people can reach a school; coverage flat (46–48%) from 10–120 min (HeiGIT/OpenAccessLens, HDX)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609480" y="5604120"/>
            <a:ext cx="336240" cy="336240"/>
          </a:xfrm>
          <a:prstGeom prst="ellipse">
            <a:avLst/>
          </a:prstGeom>
          <a:solidFill>
            <a:srgbClr val="A51F2F"/>
          </a:solidFill>
          <a:ln w="6350">
            <a:solidFill>
              <a:srgbClr val="DDBA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663480" y="5677200"/>
            <a:ext cx="838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line Sans Mono SemiBold"/>
                <a:ea typeface="Spline Sans Mono SemiBold"/>
              </a:rPr>
              <a:t>0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pline Sans Mono SemiBold"/>
                <a:ea typeface="Spline Sans Mono SemiBold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1136880" y="5609520"/>
            <a:ext cx="1044504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F566B"/>
                </a:solidFill>
                <a:effectLst/>
                <a:uFillTx/>
                <a:latin typeface="Spline Sans Mono Bold"/>
                <a:ea typeface="Spline Sans Mono Bold"/>
              </a:rPr>
              <a:t>Specialist coverage: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 Many 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atolls have no tertiary-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level specialist 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services, requiring 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inter-island/abroad 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referral (MoH HEMS / 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Aasandha reports)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609480" y="2637720"/>
            <a:ext cx="10972080" cy="1224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5"/>
          <p:cNvSpPr/>
          <p:nvPr/>
        </p:nvSpPr>
        <p:spPr>
          <a:xfrm>
            <a:off x="609480" y="3949200"/>
            <a:ext cx="10972080" cy="1224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609480" y="5260680"/>
            <a:ext cx="10972080" cy="1224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0784160" y="6364800"/>
            <a:ext cx="1371600" cy="457200"/>
          </a:xfrm>
          <a:prstGeom prst="rect">
            <a:avLst/>
          </a:prstGeom>
          <a:solidFill>
            <a:srgbClr val="F7F2E8"/>
          </a:solidFill>
          <a:ln w="0">
            <a:solidFill>
              <a:schemeClr val="lt1">
                <a:lumOff val="0"/>
              </a:schemeClr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71640" tIns="26640" rIns="71640" bIns="26640" anchor="ctr">
            <a:noAutofit/>
          </a:bodyPr>
          <a:p>
            <a:pPr algn="ctr"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609480" y="658080"/>
            <a:ext cx="109720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7000"/>
              </a:lnSpc>
              <a:tabLst>
                <a:tab pos="0" algn="l"/>
              </a:tabLst>
            </a:pPr>
            <a:r>
              <a:rPr lang="en-US" sz="4400" b="0" u="none" spc="-23" strike="noStrike">
                <a:solidFill>
                  <a:srgbClr val="A51F2F"/>
                </a:solidFill>
                <a:effectLst/>
                <a:uFillTx/>
                <a:latin typeface="Saira Condensed SemiBold"/>
                <a:ea typeface="Saira Condensed SemiBold"/>
              </a:rPr>
              <a:t>Implementation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609480" y="1955160"/>
            <a:ext cx="3428640" cy="1872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609480" y="208836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3"/>
          <p:cNvSpPr/>
          <p:nvPr/>
        </p:nvSpPr>
        <p:spPr>
          <a:xfrm>
            <a:off x="609480" y="2590200"/>
            <a:ext cx="342864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D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a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t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a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 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E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x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p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l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o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r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a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t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i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o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4"/>
          <p:cNvSpPr/>
          <p:nvPr/>
        </p:nvSpPr>
        <p:spPr>
          <a:xfrm>
            <a:off x="4495680" y="1955160"/>
            <a:ext cx="3276000" cy="1872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1" descr="preencoded.png"/>
          <p:cNvPicPr/>
          <p:nvPr/>
        </p:nvPicPr>
        <p:blipFill>
          <a:blip r:embed="rId2"/>
          <a:stretch/>
        </p:blipFill>
        <p:spPr>
          <a:xfrm>
            <a:off x="4495680" y="208836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5"/>
          <p:cNvSpPr/>
          <p:nvPr/>
        </p:nvSpPr>
        <p:spPr>
          <a:xfrm>
            <a:off x="4495680" y="2590200"/>
            <a:ext cx="32760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Geo-spatial preparation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8229240" y="1955160"/>
            <a:ext cx="3352320" cy="1872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2" descr="preencoded.png"/>
          <p:cNvPicPr/>
          <p:nvPr/>
        </p:nvPicPr>
        <p:blipFill>
          <a:blip r:embed="rId3"/>
          <a:stretch/>
        </p:blipFill>
        <p:spPr>
          <a:xfrm>
            <a:off x="8229240" y="208836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7"/>
          <p:cNvSpPr/>
          <p:nvPr/>
        </p:nvSpPr>
        <p:spPr>
          <a:xfrm>
            <a:off x="8229240" y="2590200"/>
            <a:ext cx="3352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POI mapping &amp; Network </a:t>
            </a: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construction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609480" y="3597120"/>
            <a:ext cx="3428640" cy="1872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3" descr="preencoded.png"/>
          <p:cNvPicPr/>
          <p:nvPr/>
        </p:nvPicPr>
        <p:blipFill>
          <a:blip r:embed="rId4"/>
          <a:stretch/>
        </p:blipFill>
        <p:spPr>
          <a:xfrm>
            <a:off x="609480" y="373032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9"/>
          <p:cNvSpPr/>
          <p:nvPr/>
        </p:nvSpPr>
        <p:spPr>
          <a:xfrm>
            <a:off x="609480" y="4232520"/>
            <a:ext cx="342864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Accessibility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4" descr="preencoded.png"/>
          <p:cNvPicPr/>
          <p:nvPr/>
        </p:nvPicPr>
        <p:blipFill>
          <a:blip r:embed="rId5"/>
          <a:stretch/>
        </p:blipFill>
        <p:spPr>
          <a:xfrm>
            <a:off x="4495680" y="373032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11"/>
          <p:cNvSpPr/>
          <p:nvPr/>
        </p:nvSpPr>
        <p:spPr>
          <a:xfrm>
            <a:off x="4495680" y="4232520"/>
            <a:ext cx="708624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Data visualization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4495680" y="3597120"/>
            <a:ext cx="3276000" cy="1872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0784160" y="6364800"/>
            <a:ext cx="1371600" cy="457200"/>
          </a:xfrm>
          <a:prstGeom prst="rect">
            <a:avLst/>
          </a:prstGeom>
          <a:solidFill>
            <a:srgbClr val="F7F2E8"/>
          </a:solidFill>
          <a:ln w="0">
            <a:solidFill>
              <a:schemeClr val="lt1">
                <a:lumOff val="0"/>
              </a:schemeClr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71640" tIns="26640" rIns="71640" bIns="2664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609480" y="658080"/>
            <a:ext cx="109720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7000"/>
              </a:lnSpc>
              <a:tabLst>
                <a:tab pos="0" algn="l"/>
              </a:tabLst>
            </a:pPr>
            <a:r>
              <a:rPr lang="en-US" sz="4400" b="0" u="none" spc="-23" strike="noStrike">
                <a:solidFill>
                  <a:srgbClr val="A51F2F"/>
                </a:solidFill>
                <a:effectLst/>
                <a:uFillTx/>
                <a:latin typeface="Saira Condensed SemiBold"/>
                <a:ea typeface="Saira Condensed SemiBold"/>
              </a:rPr>
              <a:t>Demo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609480" y="1432800"/>
            <a:ext cx="3620520" cy="12240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609480" y="1662840"/>
            <a:ext cx="10972080" cy="4584960"/>
          </a:xfrm>
          <a:prstGeom prst="rect">
            <a:avLst/>
          </a:prstGeom>
          <a:solidFill>
            <a:srgbClr val="FCFA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0784160" y="6364800"/>
            <a:ext cx="1371600" cy="457200"/>
          </a:xfrm>
          <a:prstGeom prst="rect">
            <a:avLst/>
          </a:prstGeom>
          <a:solidFill>
            <a:srgbClr val="F7F2E8"/>
          </a:solidFill>
          <a:ln w="0">
            <a:solidFill>
              <a:schemeClr val="lt1">
                <a:lumOff val="0"/>
              </a:schemeClr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71640" tIns="26640" rIns="71640" bIns="2664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609480" y="658080"/>
            <a:ext cx="109720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7000"/>
              </a:lnSpc>
              <a:tabLst>
                <a:tab pos="0" algn="l"/>
              </a:tabLst>
            </a:pPr>
            <a:r>
              <a:rPr lang="en-US" sz="4400" b="0" u="none" spc="-23" strike="noStrike">
                <a:solidFill>
                  <a:srgbClr val="A51F2F"/>
                </a:solidFill>
                <a:effectLst/>
                <a:uFillTx/>
                <a:latin typeface="Saira Condensed SemiBold"/>
                <a:ea typeface="Saira Condensed SemiBold"/>
              </a:rPr>
              <a:t>Impact &amp; Limitations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"/>
          <p:cNvSpPr/>
          <p:nvPr/>
        </p:nvSpPr>
        <p:spPr>
          <a:xfrm>
            <a:off x="609480" y="1432800"/>
            <a:ext cx="3620520" cy="12240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609480" y="2103840"/>
            <a:ext cx="109720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Impact: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609480" y="2531880"/>
            <a:ext cx="10972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Help planners,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education/health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ministries, atoll councils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— prioritize routes, place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services, target subsidies.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609480" y="3520440"/>
            <a:ext cx="109720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 Medium"/>
                <a:ea typeface="Spline Sans Mono Medium"/>
              </a:rPr>
              <a:t>Limitation: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09480" y="3948480"/>
            <a:ext cx="1097208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Data completeness (schedules, facility coordinates, fares).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609480" y="3278880"/>
            <a:ext cx="10972080" cy="1224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0784160" y="6364800"/>
            <a:ext cx="1371600" cy="457200"/>
          </a:xfrm>
          <a:prstGeom prst="rect">
            <a:avLst/>
          </a:prstGeom>
          <a:solidFill>
            <a:srgbClr val="F7F2E8"/>
          </a:solidFill>
          <a:ln w="0">
            <a:solidFill>
              <a:schemeClr val="lt1">
                <a:lumOff val="0"/>
              </a:schemeClr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71640" tIns="26640" rIns="71640" bIns="2664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609480" y="658080"/>
            <a:ext cx="109720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7000"/>
              </a:lnSpc>
              <a:tabLst>
                <a:tab pos="0" algn="l"/>
              </a:tabLst>
            </a:pPr>
            <a:r>
              <a:rPr lang="en-US" sz="4400" b="0" u="none" spc="-23" strike="noStrike">
                <a:solidFill>
                  <a:srgbClr val="A51F2F"/>
                </a:solidFill>
                <a:effectLst/>
                <a:uFillTx/>
                <a:latin typeface="Saira Condensed SemiBold"/>
                <a:ea typeface="Saira Condensed SemiBold"/>
              </a:rPr>
              <a:t>References &amp; Acknowledgements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609480" y="1432800"/>
            <a:ext cx="3620520" cy="12240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609480" y="2493720"/>
            <a:ext cx="525744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F566B"/>
                </a:solidFill>
                <a:effectLst/>
                <a:uFillTx/>
                <a:latin typeface="Spline Sans Mono Bold"/>
                <a:ea typeface="Spline Sans Mono Bold"/>
              </a:rPr>
              <a:t>Data: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 MBS (Census 2022,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Datathon datasets), RTL/MTCC,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OCHA, FollowMe, Human 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Development Exchange (HDX)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6324480" y="2493720"/>
            <a:ext cx="52574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F566B"/>
                </a:solidFill>
                <a:effectLst/>
                <a:uFillTx/>
                <a:latin typeface="Spline Sans Mono Bold"/>
                <a:ea typeface="Spline Sans Mono Bold"/>
              </a:rPr>
              <a:t>Research: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 HeiGIT/OpenAccessLens (HDX), OpenStreetMap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609480" y="3739680"/>
            <a:ext cx="52574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F566B"/>
                </a:solidFill>
                <a:effectLst/>
                <a:uFillTx/>
                <a:latin typeface="Spline Sans Mono Bold"/>
                <a:ea typeface="Spline Sans Mono Bold"/>
              </a:rPr>
              <a:t>Platform: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 Python, Django, htmx, Leaflet + custom GeoJSON, hand-written CSS, SQLite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6324480" y="3739680"/>
            <a:ext cx="525744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F566B"/>
                </a:solidFill>
                <a:effectLst/>
                <a:uFillTx/>
                <a:latin typeface="Spline Sans Mono Bold"/>
                <a:ea typeface="Spline Sans Mono Bold"/>
              </a:rPr>
              <a:t>Tools: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 pandas, NumPy, openpyxl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609480" y="4722480"/>
            <a:ext cx="548604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F566B"/>
                </a:solidFill>
                <a:effectLst/>
                <a:uFillTx/>
                <a:latin typeface="Spline Sans Mono Bold"/>
                <a:ea typeface="Spline Sans Mono Bold"/>
              </a:rPr>
              <a:t>Presentation: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 Gamma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6324480" y="4722480"/>
            <a:ext cx="52574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F566B"/>
                </a:solidFill>
                <a:effectLst/>
                <a:uFillTx/>
                <a:latin typeface="Spline Sans Mono Bold"/>
                <a:ea typeface="Spline Sans Mono Bold"/>
              </a:rPr>
              <a:t>AI Usage:</a:t>
            </a:r>
            <a:r>
              <a:rPr lang="en-US" sz="15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 ChatGPT &amp; OpenCode (for planning), Claude (for coding)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6089400" y="2493000"/>
            <a:ext cx="12240" cy="101664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609480" y="3503520"/>
            <a:ext cx="5486040" cy="1224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0"/>
          <p:cNvSpPr/>
          <p:nvPr/>
        </p:nvSpPr>
        <p:spPr>
          <a:xfrm>
            <a:off x="6089400" y="3510000"/>
            <a:ext cx="12240" cy="98244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1"/>
          <p:cNvSpPr/>
          <p:nvPr/>
        </p:nvSpPr>
        <p:spPr>
          <a:xfrm>
            <a:off x="6095880" y="3503520"/>
            <a:ext cx="5486040" cy="1224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609480" y="4486320"/>
            <a:ext cx="5486040" cy="1224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3"/>
          <p:cNvSpPr/>
          <p:nvPr/>
        </p:nvSpPr>
        <p:spPr>
          <a:xfrm>
            <a:off x="6089400" y="4492800"/>
            <a:ext cx="12240" cy="75384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4"/>
          <p:cNvSpPr/>
          <p:nvPr/>
        </p:nvSpPr>
        <p:spPr>
          <a:xfrm>
            <a:off x="6095880" y="4486320"/>
            <a:ext cx="5486040" cy="12240"/>
          </a:xfrm>
          <a:prstGeom prst="rect">
            <a:avLst/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0784160" y="6364800"/>
            <a:ext cx="1371600" cy="457200"/>
          </a:xfrm>
          <a:prstGeom prst="rect">
            <a:avLst/>
          </a:prstGeom>
          <a:solidFill>
            <a:srgbClr val="F7F2E8"/>
          </a:solidFill>
          <a:ln w="0">
            <a:solidFill>
              <a:schemeClr val="lt1">
                <a:lumOff val="0"/>
              </a:schemeClr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71640" tIns="26640" rIns="71640" bIns="2664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609480" y="2566440"/>
            <a:ext cx="1097208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9600" b="0" u="none" spc="-96" strike="noStrike">
                <a:solidFill>
                  <a:srgbClr val="A51F2F"/>
                </a:solidFill>
                <a:effectLst/>
                <a:uFillTx/>
                <a:latin typeface="Saira Condensed SemiBold"/>
                <a:ea typeface="Saira Condensed SemiBold"/>
              </a:rPr>
              <a:t>Thank you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"/>
          <p:cNvSpPr/>
          <p:nvPr/>
        </p:nvSpPr>
        <p:spPr>
          <a:xfrm>
            <a:off x="609480" y="3864960"/>
            <a:ext cx="3620520" cy="12240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609480" y="4097160"/>
            <a:ext cx="11581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F566B"/>
                </a:solidFill>
                <a:effectLst/>
                <a:uFillTx/>
                <a:latin typeface="Spline Sans Mono"/>
                <a:ea typeface="Spline Sans Mono"/>
              </a:rPr>
              <a:t>Any Questions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0784160" y="6364800"/>
            <a:ext cx="1371600" cy="457200"/>
          </a:xfrm>
          <a:prstGeom prst="rect">
            <a:avLst/>
          </a:prstGeom>
          <a:solidFill>
            <a:srgbClr val="F7F2E8"/>
          </a:solidFill>
          <a:ln w="0">
            <a:solidFill>
              <a:schemeClr val="lt1">
                <a:lumOff val="0"/>
              </a:schemeClr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71640" tIns="26640" rIns="71640" bIns="2664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LibreOffice/26.8.1.1$Linux_X86_64 LibreOffice_project/680$Build-1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2026-10-24T11:03:46Z</dcterms:created>
  <dc:creator/>
  <dc:description/>
  <dc:language>en-US</dc:language>
  <cp:lastModifiedBy/>
  <cp:lastPrinted>2026-10-24T16:27:42Z</cp:lastPrinted>
  <dcterms:modified xsi:type="dcterms:W3CDTF">2026-10-24T16:34:38Z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